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59" r:id="rId1"/>
    <p:sldMasterId id="2147483671" r:id="rId2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marL="4572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marL="9144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marL="13716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marL="18288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marL="22860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marL="27432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marL="32004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marL="320040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6" autoAdjust="0"/>
    <p:restoredTop sz="100000" autoAdjust="0"/>
  </p:normalViewPr>
  <p:slideViewPr>
    <p:cSldViewPr snapToGrid="0">
      <p:cViewPr varScale="1">
        <p:scale>
          <a:sx n="84" d="100"/>
          <a:sy n="84" d="100"/>
        </p:scale>
        <p:origin x="0" y="0"/>
      </p:cViewPr>
      <p:guideLst>
        <p:guide orient="horz" pos="1616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&lt;#&gt;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9/18/2026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752116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rial" pitchFamily="0" charset="0"/>
        <a:ea typeface="宋体" pitchFamily="0" charset="0"/>
        <a:cs typeface="Arial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1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9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21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656286649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2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7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8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49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0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1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549521490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3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1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73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4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5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573129157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4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10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1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3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4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5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619956285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5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33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4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5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36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7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8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345763542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6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60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1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63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4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5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666836689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7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1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83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4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5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597847172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8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10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1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213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4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5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304530774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9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29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0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1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232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3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4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095862823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10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60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1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263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4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5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88308848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11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8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89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90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291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92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93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678631465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12</a:t>
            </a:fld>
            <a:endParaRPr lang="zh-CN" altLang="en-US" sz="1200"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00" name="矩形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1" name="矩形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303" name="文本框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4" name="矩形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5" name="矩形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464778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2454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067613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476140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717136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1720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81818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34331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012481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879023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812434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00358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151508"/>
      </p:ext>
    </p:extLst>
  </p:cSld>
  <p:clrMapOvr>
    <a:masterClrMapping/>
  </p:clrMapOvr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039385"/>
      </p:ext>
    </p:extLst>
  </p:cSld>
  <p:clrMapOvr>
    <a:masterClrMapping/>
  </p:clrMapOvr>
</p:sldLayout>
</file>

<file path=ppt/slideLayouts/slideLayout14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8829838"/>
      </p:ext>
    </p:extLst>
  </p:cSld>
  <p:clrMapOvr>
    <a:masterClrMapping/>
  </p:clrMapOvr>
</p:sldLayout>
</file>

<file path=ppt/slideLayouts/slideLayout15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011357"/>
      </p:ext>
    </p:extLst>
  </p:cSld>
  <p:clrMapOvr>
    <a:masterClrMapping/>
  </p:clrMapOvr>
</p:sldLayout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21625"/>
      </p:ext>
    </p:extLst>
  </p:cSld>
  <p:clrMapOvr>
    <a:masterClrMapping/>
  </p:clrMapOvr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341524"/>
      </p:ext>
    </p:extLst>
  </p:cSld>
  <p:clrMapOvr>
    <a:masterClrMapping/>
  </p:clrMapOvr>
</p:sldLayout>
</file>

<file path=ppt/slideLayouts/slideLayout18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956478"/>
      </p:ext>
    </p:extLst>
  </p:cSld>
  <p:clrMapOvr>
    <a:masterClrMapping/>
  </p:clrMapOvr>
</p:sldLayout>
</file>

<file path=ppt/slideLayouts/slideLayout19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9203507"/>
      </p:ext>
    </p:extLst>
  </p:cSld>
  <p:clrMapOvr>
    <a:masterClrMapping/>
  </p:clrMapOvr>
</p:sldLayout>
</file>

<file path=ppt/slideLayouts/slideLayout20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60751885"/>
      </p:ext>
    </p:extLst>
  </p:cSld>
  <p:clrMapOvr>
    <a:masterClrMapping/>
  </p:clrMapOvr>
</p:sldLayout>
</file>

<file path=ppt/slideLayouts/slideLayout2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568499"/>
      </p:ext>
    </p:extLst>
  </p:cSld>
  <p:clrMapOvr>
    <a:masterClrMapping/>
  </p:clrMapOvr>
</p:sldLayout>
</file>

<file path=ppt/slideLayouts/slideLayout22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050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628650" y="273844"/>
            <a:ext cx="7886700" cy="99417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68575" tIns="34275" rIns="68575" bIns="34275" anchor="ctr" anchorCtr="0">
            <a:prstTxWarp prst="textNoShape"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628650" y="1369219"/>
            <a:ext cx="7886700" cy="326350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68575" tIns="34275" rIns="68575" bIns="34275" anchor="t" anchorCtr="0">
            <a:prstTxWarp prst="textNoShape"/>
          </a:bodyPr>
          <a:lstStyle/>
          <a:p>
            <a:pPr marL="45720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itchFamily="0" charset="0"/>
              <a:buChar char="•"/>
            </a:pP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10"/>
          </p:nvPr>
        </p:nvSpPr>
        <p:spPr>
          <a:xfrm rot="0">
            <a:off x="628650" y="4767263"/>
            <a:ext cx="2057399" cy="27384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68575" tIns="34275" rIns="68575" bIns="34275" anchor="ctr" anchorCtr="0">
            <a:prstTxWarp prst="textNoShape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idx="11"/>
          </p:nvPr>
        </p:nvSpPr>
        <p:spPr>
          <a:xfrm rot="0">
            <a:off x="3028950" y="4767263"/>
            <a:ext cx="3086100" cy="27384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68575" tIns="34275" rIns="68575" bIns="34275" anchor="ctr" anchorCtr="0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idx="12"/>
          </p:nvPr>
        </p:nvSpPr>
        <p:spPr>
          <a:xfrm rot="0">
            <a:off x="6457950" y="4767263"/>
            <a:ext cx="2057400" cy="27384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68575" tIns="34275" rIns="68575" bIns="34275" anchor="ctr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900" b="0" i="0" u="none" strike="noStrike" kern="0" cap="none" spc="0" baseline="0">
                <a:solidFill>
                  <a:srgbClr val="888888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&lt;#&gt;</a:t>
            </a:fld>
            <a:endParaRPr lang="zh-CN" altLang="en-US" sz="900" b="0" i="0" u="none" strike="noStrike" cap="none">
              <a:solidFill>
                <a:srgbClr val="888888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36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9pPr>
    </p:bodyStyle>
  </p:txStyles>
</p:sldMaster>
</file>

<file path=ppt/slideMasters/slideMaster2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1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gradFill>
          <a:gsLst>
            <a:gs pos="0">
              <a:srgbClr val="003690"/>
            </a:gs>
            <a:gs pos="100000">
              <a:srgbClr val="0050B4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>
            <a:spLocks/>
          </p:cNvSpPr>
          <p:nvPr/>
        </p:nvSpPr>
        <p:spPr>
          <a:xfrm rot="0">
            <a:off x="1015999" y="2031999"/>
            <a:ext cx="10159999" cy="1016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</a:rPr>
              <a:t>交大课录智析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1015999" y="3301999"/>
            <a:ext cx="8890000" cy="507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u="none" strike="noStrike" kern="0" cap="none" spc="0" baseline="0">
                <a:solidFill>
                  <a:srgbClr val="D4E5F7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北京交通大学课程平台 · 智能学习助手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5" name="直线连接线"/>
          <p:cNvCxnSpPr>
            <a:cxnSpLocks/>
          </p:cNvCxnSpPr>
          <p:nvPr/>
        </p:nvCxnSpPr>
        <p:spPr>
          <a:xfrm rot="0">
            <a:off x="1016026" y="4184650"/>
            <a:ext cx="1524000" cy="12699"/>
          </a:xfrm>
          <a:prstGeom prst="straightConnector1"/>
          <a:solidFill>
            <a:srgbClr val="DEE0E3"/>
          </a:solidFill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</a:ln>
        </p:spPr>
      </p:cxnSp>
      <p:sp>
        <p:nvSpPr>
          <p:cNvPr id="16" name="矩形"/>
          <p:cNvSpPr>
            <a:spLocks/>
          </p:cNvSpPr>
          <p:nvPr/>
        </p:nvSpPr>
        <p:spPr>
          <a:xfrm rot="0">
            <a:off x="1015999" y="4572000"/>
            <a:ext cx="7620000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B4C8E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视频智能解析 · 重点标注 · 内容总结 · 思维导图 · AI 字幕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1015999" y="5969000"/>
            <a:ext cx="5079999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A0B4D2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项目介绍 · 2026 年 9 月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851055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"/>
          <p:cNvSpPr>
            <a:spLocks/>
          </p:cNvSpPr>
          <p:nvPr/>
        </p:nvSpPr>
        <p:spPr>
          <a:xfrm rot="0">
            <a:off x="1015999" y="762000"/>
            <a:ext cx="5079999" cy="634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目录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1015999" y="1333500"/>
            <a:ext cx="5079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003690">
                    <a:alpha val="6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CONTENTS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6" name="直线连接线"/>
          <p:cNvCxnSpPr>
            <a:cxnSpLocks/>
          </p:cNvCxnSpPr>
          <p:nvPr/>
        </p:nvCxnSpPr>
        <p:spPr>
          <a:xfrm rot="0">
            <a:off x="1016004" y="1835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27" name="矩形"/>
          <p:cNvSpPr>
            <a:spLocks/>
          </p:cNvSpPr>
          <p:nvPr/>
        </p:nvSpPr>
        <p:spPr>
          <a:xfrm rot="0">
            <a:off x="1015999" y="2222500"/>
            <a:ext cx="76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01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2031999" y="2260600"/>
            <a:ext cx="6350000" cy="355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项目背景与痛点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2031999" y="2667000"/>
            <a:ext cx="6350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学生看回放的现状问题与学习效率瓶颈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30" name="直线连接线"/>
          <p:cNvCxnSpPr>
            <a:cxnSpLocks/>
          </p:cNvCxnSpPr>
          <p:nvPr/>
        </p:nvCxnSpPr>
        <p:spPr>
          <a:xfrm rot="0">
            <a:off x="1016004" y="3105150"/>
            <a:ext cx="10159999" cy="12699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31" name="矩形"/>
          <p:cNvSpPr>
            <a:spLocks/>
          </p:cNvSpPr>
          <p:nvPr/>
        </p:nvSpPr>
        <p:spPr>
          <a:xfrm rot="0">
            <a:off x="1015999" y="3365499"/>
            <a:ext cx="76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02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2031999" y="3403600"/>
            <a:ext cx="6350000" cy="355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系统整体架构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2031999" y="3810000"/>
            <a:ext cx="6350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从视频抓取到智能输出的端到端数据流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34" name="直线连接线"/>
          <p:cNvCxnSpPr>
            <a:cxnSpLocks/>
          </p:cNvCxnSpPr>
          <p:nvPr/>
        </p:nvCxnSpPr>
        <p:spPr>
          <a:xfrm rot="0">
            <a:off x="1016004" y="4248150"/>
            <a:ext cx="10159999" cy="12699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35" name="矩形"/>
          <p:cNvSpPr>
            <a:spLocks/>
          </p:cNvSpPr>
          <p:nvPr/>
        </p:nvSpPr>
        <p:spPr>
          <a:xfrm rot="0">
            <a:off x="1015999" y="4508500"/>
            <a:ext cx="76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03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 rot="0">
            <a:off x="2031999" y="4546600"/>
            <a:ext cx="6350000" cy="355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核心功能详解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 rot="0">
            <a:off x="2031999" y="4953000"/>
            <a:ext cx="635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视频解析 · 重点标注 · 内容总结 · 思维导图 · AI 字幕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38" name="直线连接线"/>
          <p:cNvCxnSpPr>
            <a:cxnSpLocks/>
          </p:cNvCxnSpPr>
          <p:nvPr/>
        </p:nvCxnSpPr>
        <p:spPr>
          <a:xfrm rot="0">
            <a:off x="1016004" y="5391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39" name="矩形"/>
          <p:cNvSpPr>
            <a:spLocks/>
          </p:cNvSpPr>
          <p:nvPr/>
        </p:nvSpPr>
        <p:spPr>
          <a:xfrm rot="0">
            <a:off x="7112000" y="2222500"/>
            <a:ext cx="76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04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8127999" y="2260600"/>
            <a:ext cx="3048000" cy="355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技术亮点与栈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8127999" y="2667000"/>
            <a:ext cx="3302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ASR · NLP · 大模型 · 前端交互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42" name="直线连接线"/>
          <p:cNvCxnSpPr>
            <a:cxnSpLocks/>
          </p:cNvCxnSpPr>
          <p:nvPr/>
        </p:nvCxnSpPr>
        <p:spPr>
          <a:xfrm rot="0">
            <a:off x="7112009" y="3105150"/>
            <a:ext cx="4064000" cy="12699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43" name="矩形"/>
          <p:cNvSpPr>
            <a:spLocks/>
          </p:cNvSpPr>
          <p:nvPr/>
        </p:nvSpPr>
        <p:spPr>
          <a:xfrm rot="0">
            <a:off x="7112000" y="3365499"/>
            <a:ext cx="76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05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8127999" y="3403600"/>
            <a:ext cx="3048000" cy="355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应用价值与场景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8127999" y="3810000"/>
            <a:ext cx="3048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学生复习 · 考前冲刺 · 课程回顾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413819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"/>
          <p:cNvSpPr>
            <a:spLocks/>
          </p:cNvSpPr>
          <p:nvPr/>
        </p:nvSpPr>
        <p:spPr>
          <a:xfrm rot="0">
            <a:off x="1015999" y="634999"/>
            <a:ext cx="2539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01 · 项目背景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课程回放学习的四大痛点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54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55" name="矩形"/>
          <p:cNvSpPr>
            <a:spLocks/>
          </p:cNvSpPr>
          <p:nvPr/>
        </p:nvSpPr>
        <p:spPr>
          <a:xfrm rot="0">
            <a:off x="1015999" y="2095500"/>
            <a:ext cx="508000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01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1714500" y="2133600"/>
            <a:ext cx="4063999" cy="330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时长久，重点难定位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1714500" y="2539999"/>
            <a:ext cx="4063999" cy="507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单节课程回放 60–120 分钟，复习时需反复拖动进度条，难以快速定位核心知识点。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6350000" y="2095500"/>
            <a:ext cx="508000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02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7048500" y="2133600"/>
            <a:ext cx="4063999" cy="330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语速不均，易漏关键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7048500" y="2539999"/>
            <a:ext cx="4063999" cy="507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教师讲解节奏不一，重点内容可能一带而过，学生稍不留神就错过核心概念。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61" name="直线连接线"/>
          <p:cNvCxnSpPr>
            <a:cxnSpLocks/>
          </p:cNvCxnSpPr>
          <p:nvPr/>
        </p:nvCxnSpPr>
        <p:spPr>
          <a:xfrm rot="0">
            <a:off x="1016004" y="3549649"/>
            <a:ext cx="10159999" cy="12699"/>
          </a:xfrm>
          <a:prstGeom prst="straightConnector1"/>
          <a:solidFill>
            <a:srgbClr val="DEE0E3"/>
          </a:solidFill>
          <a:ln w="12700" cmpd="sng" cap="flat">
            <a:solidFill>
              <a:srgbClr val="F0F3F8"/>
            </a:solidFill>
            <a:prstDash val="solid"/>
            <a:round/>
          </a:ln>
        </p:spPr>
      </p:cxnSp>
      <p:sp>
        <p:nvSpPr>
          <p:cNvPr id="62" name="矩形"/>
          <p:cNvSpPr>
            <a:spLocks/>
          </p:cNvSpPr>
          <p:nvPr/>
        </p:nvSpPr>
        <p:spPr>
          <a:xfrm rot="0">
            <a:off x="1015999" y="3937000"/>
            <a:ext cx="508000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03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1714500" y="3975100"/>
            <a:ext cx="4063999" cy="330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无字幕，信息获取弱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1714500" y="4381500"/>
            <a:ext cx="4063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课程回放缺乏配套字幕，口音、环境噪音、术语缩写影响听辨，只能反复重听。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 rot="0">
            <a:off x="6350000" y="3937000"/>
            <a:ext cx="508000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003690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04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 rot="0">
            <a:off x="7048500" y="3975100"/>
            <a:ext cx="4063999" cy="330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知识点散，难成体系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7048500" y="4381500"/>
            <a:ext cx="4063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单节课内容碎片化，学生看完难以自动梳理知识脉络，考前复习缺乏结构化框架。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68" name="圆角矩形"/>
          <p:cNvSpPr>
            <a:spLocks/>
          </p:cNvSpPr>
          <p:nvPr/>
        </p:nvSpPr>
        <p:spPr>
          <a:xfrm rot="0">
            <a:off x="1015999" y="5461000"/>
            <a:ext cx="10159999" cy="634999"/>
          </a:xfrm>
          <a:prstGeom prst="roundRect">
            <a:avLst>
              <a:gd name="adj" fmla="val 0"/>
            </a:avLst>
          </a:prstGeom>
          <a:solidFill>
            <a:srgbClr val="D4E5F7">
              <a:alpha val="40000"/>
            </a:srgbClr>
          </a:solidFill>
          <a:ln w="25400" cmpd="sng" cap="flat">
            <a:noFill/>
            <a:prstDash val="solid"/>
            <a:round/>
          </a:ln>
        </p:spPr>
      </p:sp>
      <p:sp>
        <p:nvSpPr>
          <p:cNvPr id="69" name="矩形"/>
          <p:cNvSpPr>
            <a:spLocks/>
          </p:cNvSpPr>
          <p:nvPr/>
        </p:nvSpPr>
        <p:spPr>
          <a:xfrm rot="0">
            <a:off x="1269999" y="5613400"/>
            <a:ext cx="9652000" cy="330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核心诉求：让 2 小时的课程回放，用 15 分钟抓住全部重点。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80821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"/>
          <p:cNvSpPr>
            <a:spLocks/>
          </p:cNvSpPr>
          <p:nvPr/>
        </p:nvSpPr>
        <p:spPr>
          <a:xfrm rot="0">
            <a:off x="1015999" y="634999"/>
            <a:ext cx="2539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02 · 系统架构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端到端智能处理流水线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78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79" name="圆角矩形"/>
          <p:cNvSpPr>
            <a:spLocks/>
          </p:cNvSpPr>
          <p:nvPr/>
        </p:nvSpPr>
        <p:spPr>
          <a:xfrm rot="0">
            <a:off x="1015999" y="2286000"/>
            <a:ext cx="1778000" cy="1015999"/>
          </a:xfrm>
          <a:prstGeom prst="roundRect">
            <a:avLst>
              <a:gd name="adj" fmla="val 0"/>
            </a:avLst>
          </a:prstGeom>
          <a:solidFill>
            <a:srgbClr val="D4E5F7">
              <a:alpha val="60000"/>
            </a:srgbClr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</a:ln>
        </p:spPr>
      </p:sp>
      <p:sp>
        <p:nvSpPr>
          <p:cNvPr id="80" name="矩形"/>
          <p:cNvSpPr>
            <a:spLocks/>
          </p:cNvSpPr>
          <p:nvPr/>
        </p:nvSpPr>
        <p:spPr>
          <a:xfrm rot="0">
            <a:off x="1015999" y="2476500"/>
            <a:ext cx="17780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课程平台回放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1015999" y="2857500"/>
            <a:ext cx="1778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视频源输入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82" name="直线连接线"/>
          <p:cNvCxnSpPr>
            <a:cxnSpLocks/>
          </p:cNvCxnSpPr>
          <p:nvPr/>
        </p:nvCxnSpPr>
        <p:spPr>
          <a:xfrm rot="-60000">
            <a:off x="2857571" y="2787649"/>
            <a:ext cx="571500" cy="12699"/>
          </a:xfrm>
          <a:prstGeom prst="straightConnector1"/>
          <a:solidFill>
            <a:srgbClr val="DEE0E3"/>
          </a:solidFill>
          <a:ln w="25400" cmpd="sng" cap="flat">
            <a:solidFill>
              <a:srgbClr val="003690">
                <a:alpha val="60000"/>
              </a:srgbClr>
            </a:solidFill>
            <a:prstDash val="solid"/>
            <a:round/>
            <a:tailEnd type="arrow" w="lg" len="lg"/>
          </a:ln>
        </p:spPr>
      </p:cxnSp>
      <p:sp>
        <p:nvSpPr>
          <p:cNvPr id="83" name="圆角矩形"/>
          <p:cNvSpPr>
            <a:spLocks/>
          </p:cNvSpPr>
          <p:nvPr/>
        </p:nvSpPr>
        <p:spPr>
          <a:xfrm rot="0">
            <a:off x="3492500" y="2159000"/>
            <a:ext cx="1650999" cy="698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84" name="矩形"/>
          <p:cNvSpPr>
            <a:spLocks/>
          </p:cNvSpPr>
          <p:nvPr/>
        </p:nvSpPr>
        <p:spPr>
          <a:xfrm rot="0">
            <a:off x="3492500" y="2286000"/>
            <a:ext cx="1650999" cy="2793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视频抓取模块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3492500" y="2578099"/>
            <a:ext cx="1650999" cy="228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解析 · 下载 · 音频提取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86" name="圆角矩形"/>
          <p:cNvSpPr>
            <a:spLocks/>
          </p:cNvSpPr>
          <p:nvPr/>
        </p:nvSpPr>
        <p:spPr>
          <a:xfrm rot="0">
            <a:off x="3492500" y="3048000"/>
            <a:ext cx="1650999" cy="6984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87" name="矩形"/>
          <p:cNvSpPr>
            <a:spLocks/>
          </p:cNvSpPr>
          <p:nvPr/>
        </p:nvSpPr>
        <p:spPr>
          <a:xfrm rot="0">
            <a:off x="3492500" y="3175000"/>
            <a:ext cx="1650999" cy="2793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ASR 语音识别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3492500" y="3467100"/>
            <a:ext cx="1650999" cy="228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带时间戳的转写文本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89" name="直线连接线"/>
          <p:cNvCxnSpPr>
            <a:cxnSpLocks/>
          </p:cNvCxnSpPr>
          <p:nvPr/>
        </p:nvCxnSpPr>
        <p:spPr>
          <a:xfrm rot="-60000">
            <a:off x="5207071" y="2787649"/>
            <a:ext cx="571500" cy="12699"/>
          </a:xfrm>
          <a:prstGeom prst="straightConnector1"/>
          <a:solidFill>
            <a:srgbClr val="DEE0E3"/>
          </a:solidFill>
          <a:ln w="25400" cmpd="sng" cap="flat">
            <a:solidFill>
              <a:srgbClr val="003690">
                <a:alpha val="60000"/>
              </a:srgbClr>
            </a:solidFill>
            <a:prstDash val="solid"/>
            <a:round/>
            <a:tailEnd type="arrow" w="lg" len="lg"/>
          </a:ln>
        </p:spPr>
      </p:cxnSp>
      <p:sp>
        <p:nvSpPr>
          <p:cNvPr id="90" name="圆角矩形"/>
          <p:cNvSpPr>
            <a:spLocks/>
          </p:cNvSpPr>
          <p:nvPr/>
        </p:nvSpPr>
        <p:spPr>
          <a:xfrm rot="0">
            <a:off x="5841999" y="2159000"/>
            <a:ext cx="1777999" cy="1587500"/>
          </a:xfrm>
          <a:prstGeom prst="roundRect">
            <a:avLst>
              <a:gd name="adj" fmla="val 0"/>
            </a:avLst>
          </a:prstGeom>
          <a:solidFill>
            <a:srgbClr val="D4E5F7">
              <a:alpha val="30000"/>
            </a:srgbClr>
          </a:solidFill>
          <a:ln w="254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91" name="矩形"/>
          <p:cNvSpPr>
            <a:spLocks/>
          </p:cNvSpPr>
          <p:nvPr/>
        </p:nvSpPr>
        <p:spPr>
          <a:xfrm rot="0">
            <a:off x="5841999" y="2349500"/>
            <a:ext cx="1777999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智能分析引擎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92" name="直线连接线"/>
          <p:cNvCxnSpPr>
            <a:cxnSpLocks/>
          </p:cNvCxnSpPr>
          <p:nvPr/>
        </p:nvCxnSpPr>
        <p:spPr>
          <a:xfrm rot="0">
            <a:off x="6096032" y="2724150"/>
            <a:ext cx="1270000" cy="12699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30000"/>
              </a:srgbClr>
            </a:solidFill>
            <a:prstDash val="solid"/>
            <a:round/>
          </a:ln>
        </p:spPr>
      </p:cxnSp>
      <p:sp>
        <p:nvSpPr>
          <p:cNvPr id="93" name="矩形"/>
          <p:cNvSpPr>
            <a:spLocks/>
          </p:cNvSpPr>
          <p:nvPr/>
        </p:nvSpPr>
        <p:spPr>
          <a:xfrm rot="0">
            <a:off x="5841999" y="2857500"/>
            <a:ext cx="1777999" cy="228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文本分段 · 语义理解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4" name="矩形"/>
          <p:cNvSpPr>
            <a:spLocks/>
          </p:cNvSpPr>
          <p:nvPr/>
        </p:nvSpPr>
        <p:spPr>
          <a:xfrm rot="0">
            <a:off x="5841999" y="3149600"/>
            <a:ext cx="1777999" cy="228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重点抽取 · 摘要生成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5841999" y="3441699"/>
            <a:ext cx="1777999" cy="228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知识图谱构建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96" name="直线连接线"/>
          <p:cNvCxnSpPr>
            <a:cxnSpLocks/>
          </p:cNvCxnSpPr>
          <p:nvPr/>
        </p:nvCxnSpPr>
        <p:spPr>
          <a:xfrm rot="-60000">
            <a:off x="7683570" y="2787649"/>
            <a:ext cx="571500" cy="12699"/>
          </a:xfrm>
          <a:prstGeom prst="straightConnector1"/>
          <a:solidFill>
            <a:srgbClr val="DEE0E3"/>
          </a:solidFill>
          <a:ln w="25400" cmpd="sng" cap="flat">
            <a:solidFill>
              <a:srgbClr val="003690">
                <a:alpha val="60000"/>
              </a:srgbClr>
            </a:solidFill>
            <a:prstDash val="solid"/>
            <a:round/>
            <a:tailEnd type="arrow" w="lg" len="lg"/>
          </a:ln>
        </p:spPr>
      </p:cxnSp>
      <p:sp>
        <p:nvSpPr>
          <p:cNvPr id="97" name="圆角矩形"/>
          <p:cNvSpPr>
            <a:spLocks/>
          </p:cNvSpPr>
          <p:nvPr/>
        </p:nvSpPr>
        <p:spPr>
          <a:xfrm rot="0">
            <a:off x="8318500" y="2031999"/>
            <a:ext cx="2857500" cy="482600"/>
          </a:xfrm>
          <a:prstGeom prst="roundRect">
            <a:avLst>
              <a:gd name="adj" fmla="val 0"/>
            </a:avLst>
          </a:prstGeom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98" name="矩形"/>
          <p:cNvSpPr>
            <a:spLocks/>
          </p:cNvSpPr>
          <p:nvPr/>
        </p:nvSpPr>
        <p:spPr>
          <a:xfrm rot="0">
            <a:off x="8445500" y="2133600"/>
            <a:ext cx="26035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重点时间点标注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99" name="圆角矩形"/>
          <p:cNvSpPr>
            <a:spLocks/>
          </p:cNvSpPr>
          <p:nvPr/>
        </p:nvSpPr>
        <p:spPr>
          <a:xfrm rot="0">
            <a:off x="8318500" y="2641600"/>
            <a:ext cx="2857500" cy="482600"/>
          </a:xfrm>
          <a:prstGeom prst="roundRect">
            <a:avLst>
              <a:gd name="adj" fmla="val 0"/>
            </a:avLst>
          </a:prstGeom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00" name="矩形"/>
          <p:cNvSpPr>
            <a:spLocks/>
          </p:cNvSpPr>
          <p:nvPr/>
        </p:nvSpPr>
        <p:spPr>
          <a:xfrm rot="0">
            <a:off x="8445500" y="2743200"/>
            <a:ext cx="26035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课程内容智能总结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01" name="圆角矩形"/>
          <p:cNvSpPr>
            <a:spLocks/>
          </p:cNvSpPr>
          <p:nvPr/>
        </p:nvSpPr>
        <p:spPr>
          <a:xfrm rot="0">
            <a:off x="8318500" y="3251200"/>
            <a:ext cx="2857500" cy="482600"/>
          </a:xfrm>
          <a:prstGeom prst="roundRect">
            <a:avLst>
              <a:gd name="adj" fmla="val 0"/>
            </a:avLst>
          </a:prstGeom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02" name="矩形"/>
          <p:cNvSpPr>
            <a:spLocks/>
          </p:cNvSpPr>
          <p:nvPr/>
        </p:nvSpPr>
        <p:spPr>
          <a:xfrm rot="0">
            <a:off x="8445500" y="3352800"/>
            <a:ext cx="26035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思维导图自动生成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03" name="圆角矩形"/>
          <p:cNvSpPr>
            <a:spLocks/>
          </p:cNvSpPr>
          <p:nvPr/>
        </p:nvSpPr>
        <p:spPr>
          <a:xfrm rot="0">
            <a:off x="8318500" y="3860799"/>
            <a:ext cx="2857500" cy="482599"/>
          </a:xfrm>
          <a:prstGeom prst="roundRect">
            <a:avLst>
              <a:gd name="adj" fmla="val 0"/>
            </a:avLst>
          </a:prstGeom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04" name="矩形"/>
          <p:cNvSpPr>
            <a:spLocks/>
          </p:cNvSpPr>
          <p:nvPr/>
        </p:nvSpPr>
        <p:spPr>
          <a:xfrm rot="0">
            <a:off x="8445500" y="3962400"/>
            <a:ext cx="26035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AI 字幕生成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05" name="矩形"/>
          <p:cNvSpPr>
            <a:spLocks/>
          </p:cNvSpPr>
          <p:nvPr/>
        </p:nvSpPr>
        <p:spPr>
          <a:xfrm rot="0">
            <a:off x="1015999" y="5334000"/>
            <a:ext cx="10159999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数据流向：视频输入 → 转写解析 → 语义理解 → 多维度智能输出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 rot="0">
            <a:off x="1015999" y="5969000"/>
            <a:ext cx="1778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INPUT 输入层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3492500" y="5969000"/>
            <a:ext cx="1650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PROCESS 处理层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 rot="0">
            <a:off x="5841999" y="5969000"/>
            <a:ext cx="1777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ENGINE 引擎层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 rot="0">
            <a:off x="8318500" y="5969000"/>
            <a:ext cx="28575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OUTPUT 输出层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97199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矩形"/>
          <p:cNvSpPr>
            <a:spLocks/>
          </p:cNvSpPr>
          <p:nvPr/>
        </p:nvSpPr>
        <p:spPr>
          <a:xfrm rot="0">
            <a:off x="1015999" y="634999"/>
            <a:ext cx="381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03 · 核心功能 01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17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视频智能抓取与音频解析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18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119" name="矩形"/>
          <p:cNvSpPr>
            <a:spLocks/>
          </p:cNvSpPr>
          <p:nvPr/>
        </p:nvSpPr>
        <p:spPr>
          <a:xfrm rot="0">
            <a:off x="1015999" y="2159000"/>
            <a:ext cx="4826000" cy="380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自动接入课程平台回放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20" name="矩形"/>
          <p:cNvSpPr>
            <a:spLocks/>
          </p:cNvSpPr>
          <p:nvPr/>
        </p:nvSpPr>
        <p:spPr>
          <a:xfrm rot="0">
            <a:off x="1015999" y="2667000"/>
            <a:ext cx="4826000" cy="152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自动识别课程平台回放列表，批量拉取视频资源</a:t>
            </a:r>
            <a:endParaRPr lang="en-US" altLang="zh-CN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无需手动下载，系统后台静默完成解析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从视频流中精准提取音轨，分离人声与背景噪音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支持 MP4 / FLV / HLS 等主流直播回放格式</a:t>
            </a:r>
            <a:endParaRPr lang="zh-CN" altLang="en-US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</p:txBody>
      </p:sp>
      <p:sp>
        <p:nvSpPr>
          <p:cNvPr id="121" name="矩形"/>
          <p:cNvSpPr>
            <a:spLocks/>
          </p:cNvSpPr>
          <p:nvPr/>
        </p:nvSpPr>
        <p:spPr>
          <a:xfrm rot="0">
            <a:off x="6603999" y="2159000"/>
            <a:ext cx="4572000" cy="3047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处理流程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22" name="圆角矩形"/>
          <p:cNvSpPr>
            <a:spLocks/>
          </p:cNvSpPr>
          <p:nvPr/>
        </p:nvSpPr>
        <p:spPr>
          <a:xfrm rot="0">
            <a:off x="6603999" y="2667000"/>
            <a:ext cx="4572000" cy="507999"/>
          </a:xfrm>
          <a:prstGeom prst="roundRect">
            <a:avLst>
              <a:gd name="adj" fmla="val 0"/>
            </a:avLst>
          </a:prstGeom>
          <a:solidFill>
            <a:srgbClr val="F5F8FC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123" name="矩形"/>
          <p:cNvSpPr>
            <a:spLocks/>
          </p:cNvSpPr>
          <p:nvPr/>
        </p:nvSpPr>
        <p:spPr>
          <a:xfrm rot="0">
            <a:off x="6858000" y="2794000"/>
            <a:ext cx="4063999" cy="2793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1. 登录课程平台，拉取课程回放列表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24" name="直线连接线"/>
          <p:cNvCxnSpPr>
            <a:cxnSpLocks/>
          </p:cNvCxnSpPr>
          <p:nvPr/>
        </p:nvCxnSpPr>
        <p:spPr>
          <a:xfrm rot="5160000">
            <a:off x="8794750" y="3327610"/>
            <a:ext cx="190500" cy="12699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  <a:tailEnd type="arrow" w="med" len="med"/>
          </a:ln>
        </p:spPr>
      </p:cxnSp>
      <p:sp>
        <p:nvSpPr>
          <p:cNvPr id="125" name="圆角矩形"/>
          <p:cNvSpPr>
            <a:spLocks/>
          </p:cNvSpPr>
          <p:nvPr/>
        </p:nvSpPr>
        <p:spPr>
          <a:xfrm rot="0">
            <a:off x="6603999" y="3492500"/>
            <a:ext cx="4572000" cy="507999"/>
          </a:xfrm>
          <a:prstGeom prst="roundRect">
            <a:avLst>
              <a:gd name="adj" fmla="val 0"/>
            </a:avLst>
          </a:prstGeom>
          <a:solidFill>
            <a:srgbClr val="F5F8FC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126" name="矩形"/>
          <p:cNvSpPr>
            <a:spLocks/>
          </p:cNvSpPr>
          <p:nvPr/>
        </p:nvSpPr>
        <p:spPr>
          <a:xfrm rot="0">
            <a:off x="6858000" y="3619500"/>
            <a:ext cx="4063999" cy="2793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2. 解析视频地址，提取音频轨道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27" name="直线连接线"/>
          <p:cNvCxnSpPr>
            <a:cxnSpLocks/>
          </p:cNvCxnSpPr>
          <p:nvPr/>
        </p:nvCxnSpPr>
        <p:spPr>
          <a:xfrm rot="5160000">
            <a:off x="8794750" y="4153111"/>
            <a:ext cx="190500" cy="12699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  <a:tailEnd type="arrow" w="med" len="med"/>
          </a:ln>
        </p:spPr>
      </p:cxnSp>
      <p:sp>
        <p:nvSpPr>
          <p:cNvPr id="128" name="圆角矩形"/>
          <p:cNvSpPr>
            <a:spLocks/>
          </p:cNvSpPr>
          <p:nvPr/>
        </p:nvSpPr>
        <p:spPr>
          <a:xfrm rot="0">
            <a:off x="6603999" y="4318000"/>
            <a:ext cx="4572000" cy="507999"/>
          </a:xfrm>
          <a:prstGeom prst="roundRect">
            <a:avLst>
              <a:gd name="adj" fmla="val 0"/>
            </a:avLst>
          </a:prstGeom>
          <a:solidFill>
            <a:srgbClr val="F5F8FC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129" name="矩形"/>
          <p:cNvSpPr>
            <a:spLocks/>
          </p:cNvSpPr>
          <p:nvPr/>
        </p:nvSpPr>
        <p:spPr>
          <a:xfrm rot="0">
            <a:off x="6858000" y="4445000"/>
            <a:ext cx="4063999" cy="2793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3. 降噪预处理，输出干净人声音频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30" name="直线连接线"/>
          <p:cNvCxnSpPr>
            <a:cxnSpLocks/>
          </p:cNvCxnSpPr>
          <p:nvPr/>
        </p:nvCxnSpPr>
        <p:spPr>
          <a:xfrm rot="5160000">
            <a:off x="8794750" y="4978611"/>
            <a:ext cx="190500" cy="12700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  <a:tailEnd type="arrow" w="med" len="med"/>
          </a:ln>
        </p:spPr>
      </p:cxnSp>
      <p:sp>
        <p:nvSpPr>
          <p:cNvPr id="131" name="圆角矩形"/>
          <p:cNvSpPr>
            <a:spLocks/>
          </p:cNvSpPr>
          <p:nvPr/>
        </p:nvSpPr>
        <p:spPr>
          <a:xfrm rot="0">
            <a:off x="6603999" y="5143500"/>
            <a:ext cx="4572000" cy="508000"/>
          </a:xfrm>
          <a:prstGeom prst="roundRect">
            <a:avLst>
              <a:gd name="adj" fmla="val 0"/>
            </a:avLst>
          </a:prstGeom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32" name="矩形"/>
          <p:cNvSpPr>
            <a:spLocks/>
          </p:cNvSpPr>
          <p:nvPr/>
        </p:nvSpPr>
        <p:spPr>
          <a:xfrm rot="0">
            <a:off x="6858000" y="5270500"/>
            <a:ext cx="4063999" cy="279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4. 输出：带时间戳的转写文本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51410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"/>
          <p:cNvSpPr>
            <a:spLocks/>
          </p:cNvSpPr>
          <p:nvPr/>
        </p:nvSpPr>
        <p:spPr>
          <a:xfrm rot="0">
            <a:off x="1015999" y="634999"/>
            <a:ext cx="381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03 · 核心功能 02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AI 重点时间点智能标注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41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142" name="矩形"/>
          <p:cNvSpPr>
            <a:spLocks/>
          </p:cNvSpPr>
          <p:nvPr/>
        </p:nvSpPr>
        <p:spPr>
          <a:xfrm rot="0">
            <a:off x="1015999" y="2159000"/>
            <a:ext cx="4826000" cy="380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自动定位课程核心知识点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1015999" y="2667000"/>
            <a:ext cx="4826000" cy="2031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基于大模型语义理解，自动识别课程回放中的关键内容节点，在视频时间轴上标注重点时间点：</a:t>
            </a:r>
            <a:endParaRPr lang="en-US" altLang="zh-CN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核心概念与定义讲解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重要公式与定理推导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典型例题与解题思路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考试高频考点提示</a:t>
            </a:r>
            <a:endParaRPr lang="zh-CN" altLang="en-US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</p:txBody>
      </p:sp>
      <p:sp>
        <p:nvSpPr>
          <p:cNvPr id="144" name="矩形"/>
          <p:cNvSpPr>
            <a:spLocks/>
          </p:cNvSpPr>
          <p:nvPr/>
        </p:nvSpPr>
        <p:spPr>
          <a:xfrm rot="0">
            <a:off x="6603999" y="2159000"/>
            <a:ext cx="4572000" cy="3047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时间轴标注示例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45" name="直线连接线"/>
          <p:cNvCxnSpPr>
            <a:cxnSpLocks/>
          </p:cNvCxnSpPr>
          <p:nvPr/>
        </p:nvCxnSpPr>
        <p:spPr>
          <a:xfrm rot="0">
            <a:off x="6858009" y="3549649"/>
            <a:ext cx="4318000" cy="12699"/>
          </a:xfrm>
          <a:prstGeom prst="straightConnector1"/>
          <a:solidFill>
            <a:srgbClr val="DEE0E3"/>
          </a:solidFill>
          <a:ln w="25400" cmpd="sng" cap="flat">
            <a:solidFill>
              <a:srgbClr val="C8D2E1"/>
            </a:solidFill>
            <a:prstDash val="solid"/>
            <a:round/>
          </a:ln>
        </p:spPr>
      </p:cxnSp>
      <p:sp>
        <p:nvSpPr>
          <p:cNvPr id="146" name="椭圆"/>
          <p:cNvSpPr>
            <a:spLocks/>
          </p:cNvSpPr>
          <p:nvPr/>
        </p:nvSpPr>
        <p:spPr>
          <a:xfrm rot="0">
            <a:off x="7239000" y="3429000"/>
            <a:ext cx="253999" cy="254000"/>
          </a:xfrm>
          <a:prstGeom prst="ellipse"/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47" name="矩形"/>
          <p:cNvSpPr>
            <a:spLocks/>
          </p:cNvSpPr>
          <p:nvPr/>
        </p:nvSpPr>
        <p:spPr>
          <a:xfrm rot="0">
            <a:off x="6921500" y="2857500"/>
            <a:ext cx="889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1C5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12:35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48" name="矩形"/>
          <p:cNvSpPr>
            <a:spLocks/>
          </p:cNvSpPr>
          <p:nvPr/>
        </p:nvSpPr>
        <p:spPr>
          <a:xfrm rot="0">
            <a:off x="6858000" y="3810000"/>
            <a:ext cx="1015999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核心概念定义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49" name="椭圆"/>
          <p:cNvSpPr>
            <a:spLocks/>
          </p:cNvSpPr>
          <p:nvPr/>
        </p:nvSpPr>
        <p:spPr>
          <a:xfrm rot="0">
            <a:off x="8509000" y="3429000"/>
            <a:ext cx="253999" cy="254000"/>
          </a:xfrm>
          <a:prstGeom prst="ellipse"/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50" name="矩形"/>
          <p:cNvSpPr>
            <a:spLocks/>
          </p:cNvSpPr>
          <p:nvPr/>
        </p:nvSpPr>
        <p:spPr>
          <a:xfrm rot="0">
            <a:off x="8191500" y="2857500"/>
            <a:ext cx="889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1C5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38:20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51" name="矩形"/>
          <p:cNvSpPr>
            <a:spLocks/>
          </p:cNvSpPr>
          <p:nvPr/>
        </p:nvSpPr>
        <p:spPr>
          <a:xfrm rot="0">
            <a:off x="8127999" y="3810000"/>
            <a:ext cx="1015999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公式推导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52" name="椭圆"/>
          <p:cNvSpPr>
            <a:spLocks/>
          </p:cNvSpPr>
          <p:nvPr/>
        </p:nvSpPr>
        <p:spPr>
          <a:xfrm rot="0">
            <a:off x="9779000" y="3429000"/>
            <a:ext cx="254000" cy="254000"/>
          </a:xfrm>
          <a:prstGeom prst="ellipse"/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53" name="矩形"/>
          <p:cNvSpPr>
            <a:spLocks/>
          </p:cNvSpPr>
          <p:nvPr/>
        </p:nvSpPr>
        <p:spPr>
          <a:xfrm rot="0">
            <a:off x="9461500" y="2857500"/>
            <a:ext cx="889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1C5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55:10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54" name="矩形"/>
          <p:cNvSpPr>
            <a:spLocks/>
          </p:cNvSpPr>
          <p:nvPr/>
        </p:nvSpPr>
        <p:spPr>
          <a:xfrm rot="0">
            <a:off x="9398000" y="3810000"/>
            <a:ext cx="1016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例题讲解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55" name="椭圆"/>
          <p:cNvSpPr>
            <a:spLocks/>
          </p:cNvSpPr>
          <p:nvPr/>
        </p:nvSpPr>
        <p:spPr>
          <a:xfrm rot="0">
            <a:off x="10795000" y="3429000"/>
            <a:ext cx="254000" cy="254000"/>
          </a:xfrm>
          <a:prstGeom prst="ellipse"/>
          <a:solidFill>
            <a:srgbClr val="0070BA"/>
          </a:solidFill>
          <a:ln w="25400" cmpd="sng" cap="flat">
            <a:noFill/>
            <a:prstDash val="solid"/>
            <a:round/>
          </a:ln>
        </p:spPr>
      </p:sp>
      <p:sp>
        <p:nvSpPr>
          <p:cNvPr id="156" name="矩形"/>
          <p:cNvSpPr>
            <a:spLocks/>
          </p:cNvSpPr>
          <p:nvPr/>
        </p:nvSpPr>
        <p:spPr>
          <a:xfrm rot="0">
            <a:off x="10477499" y="2857500"/>
            <a:ext cx="888999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1C5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78:45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57" name="矩形"/>
          <p:cNvSpPr>
            <a:spLocks/>
          </p:cNvSpPr>
          <p:nvPr/>
        </p:nvSpPr>
        <p:spPr>
          <a:xfrm rot="0">
            <a:off x="10414000" y="3810000"/>
            <a:ext cx="1016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考点总结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58" name="圆角矩形"/>
          <p:cNvSpPr>
            <a:spLocks/>
          </p:cNvSpPr>
          <p:nvPr/>
        </p:nvSpPr>
        <p:spPr>
          <a:xfrm rot="0">
            <a:off x="6603999" y="4826000"/>
            <a:ext cx="4572000" cy="889000"/>
          </a:xfrm>
          <a:prstGeom prst="roundRect">
            <a:avLst>
              <a:gd name="adj" fmla="val 0"/>
            </a:avLst>
          </a:prstGeom>
          <a:solidFill>
            <a:srgbClr val="D4E5F7">
              <a:alpha val="40000"/>
            </a:srgbClr>
          </a:solidFill>
          <a:ln w="25400" cmpd="sng" cap="flat">
            <a:noFill/>
            <a:prstDash val="solid"/>
            <a:round/>
          </a:ln>
        </p:spPr>
      </p:sp>
      <p:sp>
        <p:nvSpPr>
          <p:cNvPr id="159" name="矩形"/>
          <p:cNvSpPr>
            <a:spLocks/>
          </p:cNvSpPr>
          <p:nvPr/>
        </p:nvSpPr>
        <p:spPr>
          <a:xfrm rot="0">
            <a:off x="6858000" y="5016500"/>
            <a:ext cx="4063999" cy="5587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点击时间点即可跳转播放，每个重点附带一句话摘要，快速判断是否需要细看。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811290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"/>
          <p:cNvSpPr>
            <a:spLocks/>
          </p:cNvSpPr>
          <p:nvPr/>
        </p:nvSpPr>
        <p:spPr>
          <a:xfrm rot="0">
            <a:off x="1015999" y="634999"/>
            <a:ext cx="381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03 · 核心功能 03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课程内容智能总结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68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169" name="矩形"/>
          <p:cNvSpPr>
            <a:spLocks/>
          </p:cNvSpPr>
          <p:nvPr/>
        </p:nvSpPr>
        <p:spPr>
          <a:xfrm rot="0">
            <a:off x="1015999" y="2159000"/>
            <a:ext cx="4572000" cy="380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分层级提炼课程精华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70" name="矩形"/>
          <p:cNvSpPr>
            <a:spLocks/>
          </p:cNvSpPr>
          <p:nvPr/>
        </p:nvSpPr>
        <p:spPr>
          <a:xfrm rot="0">
            <a:off x="1015999" y="2667000"/>
            <a:ext cx="4572000" cy="2286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大模型深度理解课程内容，自动生成分层级总结，从粗到细逐步展开：</a:t>
            </a:r>
            <a:endParaRPr lang="en-US" altLang="zh-CN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90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课程概览</a:t>
            </a: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：一句话概括本节核心主题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90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章节要点</a:t>
            </a: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：按教学环节拆分知识点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90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重点详解</a:t>
            </a: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：核心概念与公式深度解读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90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思考题</a:t>
            </a: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：基于内容生成复习自测题</a:t>
            </a:r>
            <a:endParaRPr lang="zh-CN" altLang="en-US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</p:txBody>
      </p:sp>
      <p:sp>
        <p:nvSpPr>
          <p:cNvPr id="171" name="圆角矩形"/>
          <p:cNvSpPr>
            <a:spLocks/>
          </p:cNvSpPr>
          <p:nvPr/>
        </p:nvSpPr>
        <p:spPr>
          <a:xfrm rot="0">
            <a:off x="6096000" y="2159000"/>
            <a:ext cx="5079999" cy="3810000"/>
          </a:xfrm>
          <a:prstGeom prst="roundRect">
            <a:avLst>
              <a:gd name="adj" fmla="val 0"/>
            </a:avLst>
          </a:prstGeom>
          <a:solidFill>
            <a:srgbClr val="F8FAFD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172" name="矩形"/>
          <p:cNvSpPr>
            <a:spLocks/>
          </p:cNvSpPr>
          <p:nvPr/>
        </p:nvSpPr>
        <p:spPr>
          <a:xfrm rot="0">
            <a:off x="6350000" y="2349500"/>
            <a:ext cx="45720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总结示例 · 概率论与数理统计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73" name="直线连接线"/>
          <p:cNvCxnSpPr>
            <a:cxnSpLocks/>
          </p:cNvCxnSpPr>
          <p:nvPr/>
        </p:nvCxnSpPr>
        <p:spPr>
          <a:xfrm rot="0">
            <a:off x="6350009" y="2762249"/>
            <a:ext cx="4571999" cy="12699"/>
          </a:xfrm>
          <a:prstGeom prst="straightConnector1"/>
          <a:solidFill>
            <a:srgbClr val="DEE0E3"/>
          </a:solidFill>
          <a:ln w="12700" cmpd="sng" cap="flat">
            <a:solidFill>
              <a:srgbClr val="D4E5F7"/>
            </a:solidFill>
            <a:prstDash val="solid"/>
            <a:round/>
          </a:ln>
        </p:spPr>
      </p:cxnSp>
      <p:sp>
        <p:nvSpPr>
          <p:cNvPr id="174" name="矩形"/>
          <p:cNvSpPr>
            <a:spLocks/>
          </p:cNvSpPr>
          <p:nvPr/>
        </p:nvSpPr>
        <p:spPr>
          <a:xfrm rot="0">
            <a:off x="6350000" y="2920999"/>
            <a:ext cx="4572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本节概览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 rot="0">
            <a:off x="6350000" y="3200400"/>
            <a:ext cx="457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介绍随机事件与概率的基本概念，讲解古典概型与条件概率的计算方法。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76" name="矩形"/>
          <p:cNvSpPr>
            <a:spLocks/>
          </p:cNvSpPr>
          <p:nvPr/>
        </p:nvSpPr>
        <p:spPr>
          <a:xfrm rot="0">
            <a:off x="6350000" y="3784599"/>
            <a:ext cx="4572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核心要点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77" name="矩形"/>
          <p:cNvSpPr>
            <a:spLocks/>
          </p:cNvSpPr>
          <p:nvPr/>
        </p:nvSpPr>
        <p:spPr>
          <a:xfrm rot="0">
            <a:off x="6350000" y="4063999"/>
            <a:ext cx="4572000" cy="1015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139700" indent="-1397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随机试验与样本空间的定义</a:t>
            </a:r>
            <a:endParaRPr lang="en-US" altLang="zh-CN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139700" indent="-1397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概率的公理化定义与性质</a:t>
            </a:r>
            <a:endParaRPr lang="en-US" altLang="zh-CN" sz="11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39700" indent="-1397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古典概型：等可能事件概率计算</a:t>
            </a:r>
            <a:endParaRPr lang="en-US" altLang="zh-CN" sz="11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39700" indent="-1397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条件概率与贝叶斯公式</a:t>
            </a:r>
            <a:endParaRPr lang="zh-CN" altLang="en-US" sz="11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</p:txBody>
      </p:sp>
      <p:sp>
        <p:nvSpPr>
          <p:cNvPr id="178" name="矩形"/>
          <p:cNvSpPr>
            <a:spLocks/>
          </p:cNvSpPr>
          <p:nvPr/>
        </p:nvSpPr>
        <p:spPr>
          <a:xfrm rot="0">
            <a:off x="6350000" y="5207000"/>
            <a:ext cx="4572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复习提示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6350000" y="5486400"/>
            <a:ext cx="4572000" cy="355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重点掌握贝叶斯公式的应用场景与计算步骤。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9530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"/>
          <p:cNvSpPr>
            <a:spLocks/>
          </p:cNvSpPr>
          <p:nvPr/>
        </p:nvSpPr>
        <p:spPr>
          <a:xfrm rot="0">
            <a:off x="1015999" y="634999"/>
            <a:ext cx="381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03 · 核心功能 04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87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思维导图自动生成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88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189" name="矩形"/>
          <p:cNvSpPr>
            <a:spLocks/>
          </p:cNvSpPr>
          <p:nvPr/>
        </p:nvSpPr>
        <p:spPr>
          <a:xfrm rot="0">
            <a:off x="1015999" y="2159000"/>
            <a:ext cx="4063999" cy="380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知识结构可视化呈现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90" name="矩形"/>
          <p:cNvSpPr>
            <a:spLocks/>
          </p:cNvSpPr>
          <p:nvPr/>
        </p:nvSpPr>
        <p:spPr>
          <a:xfrm rot="0">
            <a:off x="1015999" y="2667000"/>
            <a:ext cx="4063999" cy="2031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基于课程内容自动构建知识图谱，生成结构化思维导图：</a:t>
            </a:r>
            <a:endParaRPr lang="en-US" altLang="zh-CN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中心主题为课程标题，向外辐射主分支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每个主分支对应一个知识模块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子节点展开具体知识点与公式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点击节点跳转至对应视频时间点</a:t>
            </a:r>
            <a:endParaRPr lang="zh-CN" altLang="en-US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</p:txBody>
      </p:sp>
      <p:sp>
        <p:nvSpPr>
          <p:cNvPr id="191" name="圆角矩形"/>
          <p:cNvSpPr>
            <a:spLocks/>
          </p:cNvSpPr>
          <p:nvPr/>
        </p:nvSpPr>
        <p:spPr>
          <a:xfrm rot="0">
            <a:off x="1015999" y="4953000"/>
            <a:ext cx="4063999" cy="762000"/>
          </a:xfrm>
          <a:prstGeom prst="roundRect">
            <a:avLst>
              <a:gd name="adj" fmla="val 0"/>
            </a:avLst>
          </a:prstGeom>
          <a:solidFill>
            <a:srgbClr val="D4E5F7">
              <a:alpha val="40000"/>
            </a:srgbClr>
          </a:solidFill>
          <a:ln w="25400" cmpd="sng" cap="flat">
            <a:noFill/>
            <a:prstDash val="solid"/>
            <a:round/>
          </a:ln>
        </p:spPr>
      </p:sp>
      <p:sp>
        <p:nvSpPr>
          <p:cNvPr id="192" name="矩形"/>
          <p:cNvSpPr>
            <a:spLocks/>
          </p:cNvSpPr>
          <p:nvPr/>
        </p:nvSpPr>
        <p:spPr>
          <a:xfrm rot="0">
            <a:off x="1269999" y="5143500"/>
            <a:ext cx="3556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支持导出为 Markdown / 图片格式，方便笔记整理与复习。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93" name="圆角矩形"/>
          <p:cNvSpPr>
            <a:spLocks/>
          </p:cNvSpPr>
          <p:nvPr/>
        </p:nvSpPr>
        <p:spPr>
          <a:xfrm rot="0">
            <a:off x="6096000" y="2286000"/>
            <a:ext cx="5079999" cy="3810000"/>
          </a:xfrm>
          <a:prstGeom prst="roundRect">
            <a:avLst>
              <a:gd name="adj" fmla="val 0"/>
            </a:avLst>
          </a:prstGeom>
          <a:solidFill>
            <a:srgbClr val="F8FAFD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194" name="圆角矩形"/>
          <p:cNvSpPr>
            <a:spLocks/>
          </p:cNvSpPr>
          <p:nvPr/>
        </p:nvSpPr>
        <p:spPr>
          <a:xfrm rot="0">
            <a:off x="7874000" y="3937000"/>
            <a:ext cx="1524000" cy="507999"/>
          </a:xfrm>
          <a:prstGeom prst="roundRect">
            <a:avLst>
              <a:gd name="adj" fmla="val 0"/>
            </a:avLst>
          </a:prstGeom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195" name="矩形"/>
          <p:cNvSpPr>
            <a:spLocks/>
          </p:cNvSpPr>
          <p:nvPr/>
        </p:nvSpPr>
        <p:spPr>
          <a:xfrm rot="0">
            <a:off x="7874000" y="4063999"/>
            <a:ext cx="15240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随机事件与概率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196" name="圆角矩形"/>
          <p:cNvSpPr>
            <a:spLocks/>
          </p:cNvSpPr>
          <p:nvPr/>
        </p:nvSpPr>
        <p:spPr>
          <a:xfrm rot="0">
            <a:off x="6603999" y="2667000"/>
            <a:ext cx="1143000" cy="381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197" name="矩形"/>
          <p:cNvSpPr>
            <a:spLocks/>
          </p:cNvSpPr>
          <p:nvPr/>
        </p:nvSpPr>
        <p:spPr>
          <a:xfrm rot="0">
            <a:off x="6603999" y="2743200"/>
            <a:ext cx="1143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基本概念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198" name="直线连接线"/>
          <p:cNvCxnSpPr>
            <a:cxnSpLocks/>
          </p:cNvCxnSpPr>
          <p:nvPr/>
        </p:nvCxnSpPr>
        <p:spPr>
          <a:xfrm rot="2520000">
            <a:off x="7000317" y="3486171"/>
            <a:ext cx="1302911" cy="12699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</a:ln>
        </p:spPr>
      </p:cxnSp>
      <p:sp>
        <p:nvSpPr>
          <p:cNvPr id="199" name="圆角矩形"/>
          <p:cNvSpPr>
            <a:spLocks/>
          </p:cNvSpPr>
          <p:nvPr/>
        </p:nvSpPr>
        <p:spPr>
          <a:xfrm rot="0">
            <a:off x="9271000" y="2667000"/>
            <a:ext cx="1143000" cy="381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200" name="矩形"/>
          <p:cNvSpPr>
            <a:spLocks/>
          </p:cNvSpPr>
          <p:nvPr/>
        </p:nvSpPr>
        <p:spPr>
          <a:xfrm rot="0">
            <a:off x="9271000" y="2743200"/>
            <a:ext cx="1143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概率计算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01" name="直线连接线"/>
          <p:cNvCxnSpPr>
            <a:cxnSpLocks/>
          </p:cNvCxnSpPr>
          <p:nvPr/>
        </p:nvCxnSpPr>
        <p:spPr>
          <a:xfrm flipH="1" rot="19380000">
            <a:off x="9486878" y="2927235"/>
            <a:ext cx="12700" cy="1130584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</a:ln>
        </p:spPr>
      </p:cxnSp>
      <p:sp>
        <p:nvSpPr>
          <p:cNvPr id="202" name="圆角矩形"/>
          <p:cNvSpPr>
            <a:spLocks/>
          </p:cNvSpPr>
          <p:nvPr/>
        </p:nvSpPr>
        <p:spPr>
          <a:xfrm rot="0">
            <a:off x="6603999" y="4953000"/>
            <a:ext cx="1143000" cy="381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203" name="矩形"/>
          <p:cNvSpPr>
            <a:spLocks/>
          </p:cNvSpPr>
          <p:nvPr/>
        </p:nvSpPr>
        <p:spPr>
          <a:xfrm rot="0">
            <a:off x="6603999" y="5029200"/>
            <a:ext cx="1143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重要公式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04" name="直线连接线"/>
          <p:cNvCxnSpPr>
            <a:cxnSpLocks/>
          </p:cNvCxnSpPr>
          <p:nvPr/>
        </p:nvCxnSpPr>
        <p:spPr>
          <a:xfrm rot="-1680000">
            <a:off x="7112033" y="4692632"/>
            <a:ext cx="1079500" cy="12699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</a:ln>
        </p:spPr>
      </p:cxnSp>
      <p:sp>
        <p:nvSpPr>
          <p:cNvPr id="205" name="圆角矩形"/>
          <p:cNvSpPr>
            <a:spLocks/>
          </p:cNvSpPr>
          <p:nvPr/>
        </p:nvSpPr>
        <p:spPr>
          <a:xfrm rot="0">
            <a:off x="9271000" y="4953000"/>
            <a:ext cx="1143000" cy="381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206" name="矩形"/>
          <p:cNvSpPr>
            <a:spLocks/>
          </p:cNvSpPr>
          <p:nvPr/>
        </p:nvSpPr>
        <p:spPr>
          <a:xfrm rot="0">
            <a:off x="9271000" y="5029200"/>
            <a:ext cx="1143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应用实例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07" name="直线连接线"/>
          <p:cNvCxnSpPr>
            <a:cxnSpLocks/>
          </p:cNvCxnSpPr>
          <p:nvPr/>
        </p:nvCxnSpPr>
        <p:spPr>
          <a:xfrm rot="-8640000">
            <a:off x="9061366" y="4692623"/>
            <a:ext cx="863693" cy="12699"/>
          </a:xfrm>
          <a:prstGeom prst="straightConnector1"/>
          <a:solidFill>
            <a:srgbClr val="DEE0E3"/>
          </a:solidFill>
          <a:ln w="12700" cmpd="sng" cap="flat">
            <a:solidFill>
              <a:srgbClr val="003690">
                <a:alpha val="40000"/>
              </a:srgbClr>
            </a:solidFill>
            <a:prstDash val="solid"/>
            <a:round/>
          </a:ln>
        </p:spPr>
      </p:cxnSp>
      <p:sp>
        <p:nvSpPr>
          <p:cNvPr id="208" name="矩形"/>
          <p:cNvSpPr>
            <a:spLocks/>
          </p:cNvSpPr>
          <p:nvPr/>
        </p:nvSpPr>
        <p:spPr>
          <a:xfrm rot="0">
            <a:off x="6350000" y="3301999"/>
            <a:ext cx="1269999" cy="507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样本空间 随机事件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09" name="矩形"/>
          <p:cNvSpPr>
            <a:spLocks/>
          </p:cNvSpPr>
          <p:nvPr/>
        </p:nvSpPr>
        <p:spPr>
          <a:xfrm rot="0">
            <a:off x="9652000" y="3301999"/>
            <a:ext cx="1143000" cy="507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古典概型 条件概率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328256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矩形"/>
          <p:cNvSpPr>
            <a:spLocks/>
          </p:cNvSpPr>
          <p:nvPr/>
        </p:nvSpPr>
        <p:spPr>
          <a:xfrm rot="0">
            <a:off x="1015999" y="634999"/>
            <a:ext cx="381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03 · 核心功能 05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17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AI 智能字幕生成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18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219" name="矩形"/>
          <p:cNvSpPr>
            <a:spLocks/>
          </p:cNvSpPr>
          <p:nvPr/>
        </p:nvSpPr>
        <p:spPr>
          <a:xfrm rot="0">
            <a:off x="1015999" y="2159000"/>
            <a:ext cx="4572000" cy="380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精准转写，支持术语校正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20" name="矩形"/>
          <p:cNvSpPr>
            <a:spLocks/>
          </p:cNvSpPr>
          <p:nvPr/>
        </p:nvSpPr>
        <p:spPr>
          <a:xfrm rot="0">
            <a:off x="1015999" y="2667000"/>
            <a:ext cx="4572000" cy="2286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基于专业 ASR 引擎，为每节课程回放自动生成同步字幕：</a:t>
            </a:r>
            <a:endParaRPr lang="en-US" altLang="zh-CN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高精度语音识别，支持口音适应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术语库校正，专业名词自动修正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字幕与音频时间轴精准对齐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支持导出 SRT / VTT 字幕文件</a:t>
            </a:r>
            <a:endParaRPr lang="en-US" altLang="zh-CN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  <a:p>
            <a:pPr marL="177800" indent="-177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36174"/>
              </a:buClr>
              <a:buChar char="•"/>
            </a:pPr>
            <a:r>
              <a:rPr lang="zh-CN" altLang="en-US" sz="14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可调节字号、颜色、位置样式</a:t>
            </a:r>
            <a:endParaRPr lang="zh-CN" altLang="en-US" sz="1400" b="0" i="0" u="none" strike="noStrike" kern="0" cap="none" spc="0" baseline="0">
              <a:solidFill>
                <a:srgbClr val="536174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6096000" y="2159000"/>
            <a:ext cx="4572000" cy="3047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字幕效果示例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22" name="圆角矩形"/>
          <p:cNvSpPr>
            <a:spLocks/>
          </p:cNvSpPr>
          <p:nvPr/>
        </p:nvSpPr>
        <p:spPr>
          <a:xfrm rot="0">
            <a:off x="6096000" y="2667000"/>
            <a:ext cx="5079999" cy="2539999"/>
          </a:xfrm>
          <a:prstGeom prst="roundRect">
            <a:avLst>
              <a:gd name="adj" fmla="val 0"/>
            </a:avLst>
          </a:prstGeom>
          <a:solidFill>
            <a:srgbClr val="1E232D"/>
          </a:solidFill>
          <a:ln w="25400" cmpd="sng" cap="flat">
            <a:noFill/>
            <a:prstDash val="solid"/>
            <a:round/>
          </a:ln>
        </p:spPr>
      </p:sp>
      <p:sp>
        <p:nvSpPr>
          <p:cNvPr id="223" name="矩形"/>
          <p:cNvSpPr>
            <a:spLocks/>
          </p:cNvSpPr>
          <p:nvPr/>
        </p:nvSpPr>
        <p:spPr>
          <a:xfrm rot="0">
            <a:off x="6350000" y="2920999"/>
            <a:ext cx="4572000" cy="1269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B4BEC8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教师讲课画面</a:t>
            </a:r>
            <a:endParaRPr lang="en-US" altLang="zh-CN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  <a:p>
            <a:pPr marL="0" indent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B4BEC8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PPT 投影</a:t>
            </a:r>
            <a:endParaRPr lang="zh-CN" altLang="en-US" sz="1400" b="0" i="0" u="none" strike="noStrike" kern="0" cap="none" spc="0" baseline="0">
              <a:solidFill>
                <a:srgbClr val="B4BEC8"/>
              </a:solidFill>
              <a:latin typeface="Noto Sans SC" pitchFamily="0" charset="0"/>
              <a:ea typeface="Noto Sans SC" pitchFamily="0" charset="0"/>
              <a:cs typeface="Noto Sans SC" pitchFamily="0" charset="0"/>
              <a:sym typeface="Noto Sans SC" pitchFamily="0" charset="0"/>
            </a:endParaRPr>
          </a:p>
        </p:txBody>
      </p:sp>
      <p:sp>
        <p:nvSpPr>
          <p:cNvPr id="224" name="圆角矩形"/>
          <p:cNvSpPr>
            <a:spLocks/>
          </p:cNvSpPr>
          <p:nvPr/>
        </p:nvSpPr>
        <p:spPr>
          <a:xfrm rot="0">
            <a:off x="6603999" y="4191000"/>
            <a:ext cx="4064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</p:sp>
      <p:sp>
        <p:nvSpPr>
          <p:cNvPr id="225" name="矩形"/>
          <p:cNvSpPr>
            <a:spLocks/>
          </p:cNvSpPr>
          <p:nvPr/>
        </p:nvSpPr>
        <p:spPr>
          <a:xfrm rot="0">
            <a:off x="6730999" y="4318000"/>
            <a:ext cx="3810000" cy="558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接下来我们介绍古典概型 的计算方法和应用场景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6350000" y="5397500"/>
            <a:ext cx="1269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53617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00:12:35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10159999" y="5397500"/>
            <a:ext cx="762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53617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→ 00:14:20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28" name="圆角矩形"/>
          <p:cNvSpPr>
            <a:spLocks/>
          </p:cNvSpPr>
          <p:nvPr/>
        </p:nvSpPr>
        <p:spPr>
          <a:xfrm rot="0">
            <a:off x="6096000" y="5841999"/>
            <a:ext cx="5079999" cy="127000"/>
          </a:xfrm>
          <a:prstGeom prst="roundRect">
            <a:avLst>
              <a:gd name="adj" fmla="val 0"/>
            </a:avLst>
          </a:prstGeom>
          <a:solidFill>
            <a:srgbClr val="D4E5F7">
              <a:alpha val="40000"/>
            </a:srgbClr>
          </a:solidFill>
          <a:ln w="25400" cmpd="sng" cap="flat">
            <a:noFill/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97625678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矩形"/>
          <p:cNvSpPr>
            <a:spLocks/>
          </p:cNvSpPr>
          <p:nvPr/>
        </p:nvSpPr>
        <p:spPr>
          <a:xfrm rot="0">
            <a:off x="1015999" y="634999"/>
            <a:ext cx="381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04 · 技术亮点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36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技术栈（MVP 版 · 学生友好）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37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238" name="矩形"/>
          <p:cNvSpPr>
            <a:spLocks/>
          </p:cNvSpPr>
          <p:nvPr/>
        </p:nvSpPr>
        <p:spPr>
          <a:xfrm rot="0">
            <a:off x="1015999" y="2159000"/>
            <a:ext cx="4572000" cy="3047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四层技术架构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39" name="圆角矩形"/>
          <p:cNvSpPr>
            <a:spLocks/>
          </p:cNvSpPr>
          <p:nvPr/>
        </p:nvSpPr>
        <p:spPr>
          <a:xfrm rot="0">
            <a:off x="1015999" y="2667000"/>
            <a:ext cx="4572000" cy="634999"/>
          </a:xfrm>
          <a:prstGeom prst="roundRect">
            <a:avLst>
              <a:gd name="adj" fmla="val 0"/>
            </a:avLst>
          </a:prstGeom>
          <a:solidFill>
            <a:srgbClr val="F5F8FC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240" name="矩形"/>
          <p:cNvSpPr>
            <a:spLocks/>
          </p:cNvSpPr>
          <p:nvPr/>
        </p:nvSpPr>
        <p:spPr>
          <a:xfrm rot="0">
            <a:off x="1269999" y="2768600"/>
            <a:ext cx="1269999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前端展示层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41" name="矩形"/>
          <p:cNvSpPr>
            <a:spLocks/>
          </p:cNvSpPr>
          <p:nvPr/>
        </p:nvSpPr>
        <p:spPr>
          <a:xfrm rot="0">
            <a:off x="1269999" y="3048000"/>
            <a:ext cx="4064000" cy="203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53617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React · Video.js · markmap 思维导图 · Tailwind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42" name="圆角矩形"/>
          <p:cNvSpPr>
            <a:spLocks/>
          </p:cNvSpPr>
          <p:nvPr/>
        </p:nvSpPr>
        <p:spPr>
          <a:xfrm rot="0">
            <a:off x="1015999" y="3429000"/>
            <a:ext cx="4572000" cy="635000"/>
          </a:xfrm>
          <a:prstGeom prst="roundRect">
            <a:avLst>
              <a:gd name="adj" fmla="val 0"/>
            </a:avLst>
          </a:prstGeom>
          <a:solidFill>
            <a:srgbClr val="F5F8FC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243" name="矩形"/>
          <p:cNvSpPr>
            <a:spLocks/>
          </p:cNvSpPr>
          <p:nvPr/>
        </p:nvSpPr>
        <p:spPr>
          <a:xfrm rot="0">
            <a:off x="1269999" y="3530600"/>
            <a:ext cx="1524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应用服务层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1269999" y="3810000"/>
            <a:ext cx="4064000" cy="203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53617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Python · FastAPI · BackgroundTasks 后台任务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45" name="圆角矩形"/>
          <p:cNvSpPr>
            <a:spLocks/>
          </p:cNvSpPr>
          <p:nvPr/>
        </p:nvSpPr>
        <p:spPr>
          <a:xfrm rot="0">
            <a:off x="1015999" y="4191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003690">
              <a:alpha val="8000"/>
            </a:srgbClr>
          </a:solidFill>
          <a:ln w="12700" cmpd="sng" cap="flat">
            <a:solidFill>
              <a:srgbClr val="003690"/>
            </a:solidFill>
            <a:prstDash val="solid"/>
            <a:round/>
          </a:ln>
        </p:spPr>
      </p:sp>
      <p:sp>
        <p:nvSpPr>
          <p:cNvPr id="246" name="矩形"/>
          <p:cNvSpPr>
            <a:spLocks/>
          </p:cNvSpPr>
          <p:nvPr/>
        </p:nvSpPr>
        <p:spPr>
          <a:xfrm rot="0">
            <a:off x="1269999" y="4292600"/>
            <a:ext cx="1524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AI 能力层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47" name="矩形"/>
          <p:cNvSpPr>
            <a:spLocks/>
          </p:cNvSpPr>
          <p:nvPr/>
        </p:nvSpPr>
        <p:spPr>
          <a:xfrm rot="0">
            <a:off x="1269999" y="4572000"/>
            <a:ext cx="4064000" cy="254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u="none" strike="noStrike" kern="0" cap="none" spc="0" baseline="0">
                <a:solidFill>
                  <a:srgbClr val="53617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讯飞 ASR API · 硅基流动（DeepSeek / Qwen）大模型 API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48" name="圆角矩形"/>
          <p:cNvSpPr>
            <a:spLocks/>
          </p:cNvSpPr>
          <p:nvPr/>
        </p:nvSpPr>
        <p:spPr>
          <a:xfrm rot="0">
            <a:off x="1015999" y="5079999"/>
            <a:ext cx="4572000" cy="634999"/>
          </a:xfrm>
          <a:prstGeom prst="roundRect">
            <a:avLst>
              <a:gd name="adj" fmla="val 0"/>
            </a:avLst>
          </a:prstGeom>
          <a:solidFill>
            <a:srgbClr val="F5F8FC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249" name="矩形"/>
          <p:cNvSpPr>
            <a:spLocks/>
          </p:cNvSpPr>
          <p:nvPr/>
        </p:nvSpPr>
        <p:spPr>
          <a:xfrm rot="0">
            <a:off x="1269999" y="5181599"/>
            <a:ext cx="1269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数据存储层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0" name="矩形"/>
          <p:cNvSpPr>
            <a:spLocks/>
          </p:cNvSpPr>
          <p:nvPr/>
        </p:nvSpPr>
        <p:spPr>
          <a:xfrm rot="0">
            <a:off x="1269999" y="5461000"/>
            <a:ext cx="4064000" cy="203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53617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SQLite · 本地磁盘 / 阿里云 OSS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1" name="矩形"/>
          <p:cNvSpPr>
            <a:spLocks/>
          </p:cNvSpPr>
          <p:nvPr/>
        </p:nvSpPr>
        <p:spPr>
          <a:xfrm rot="0">
            <a:off x="6223000" y="2159000"/>
            <a:ext cx="4572000" cy="3047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kern="0" cap="none" spc="0" baseline="0">
                <a:solidFill>
                  <a:srgbClr val="001C5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为什么适合学生团队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2" name="矩形"/>
          <p:cNvSpPr>
            <a:spLocks/>
          </p:cNvSpPr>
          <p:nvPr/>
        </p:nvSpPr>
        <p:spPr>
          <a:xfrm rot="0">
            <a:off x="6223000" y="2667000"/>
            <a:ext cx="45720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零 GPU 依赖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3" name="矩形"/>
          <p:cNvSpPr>
            <a:spLocks/>
          </p:cNvSpPr>
          <p:nvPr/>
        </p:nvSpPr>
        <p:spPr>
          <a:xfrm rot="0">
            <a:off x="6223000" y="3022600"/>
            <a:ext cx="457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AI 能力全部走云 API，学生普通笔记本即可开发调试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4" name="矩形"/>
          <p:cNvSpPr>
            <a:spLocks/>
          </p:cNvSpPr>
          <p:nvPr/>
        </p:nvSpPr>
        <p:spPr>
          <a:xfrm rot="0">
            <a:off x="6223000" y="3619500"/>
            <a:ext cx="45720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轻量易部署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5" name="矩形"/>
          <p:cNvSpPr>
            <a:spLocks/>
          </p:cNvSpPr>
          <p:nvPr/>
        </p:nvSpPr>
        <p:spPr>
          <a:xfrm rot="0">
            <a:off x="6223000" y="3975100"/>
            <a:ext cx="457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单进程 + SQLite，一台学生云服务器就能跑通全链路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6" name="矩形"/>
          <p:cNvSpPr>
            <a:spLocks/>
          </p:cNvSpPr>
          <p:nvPr/>
        </p:nvSpPr>
        <p:spPr>
          <a:xfrm rot="0">
            <a:off x="6223000" y="4572000"/>
            <a:ext cx="45720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快速聚焦业务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7" name="矩形"/>
          <p:cNvSpPr>
            <a:spLocks/>
          </p:cNvSpPr>
          <p:nvPr/>
        </p:nvSpPr>
        <p:spPr>
          <a:xfrm rot="0">
            <a:off x="6223000" y="4927600"/>
            <a:ext cx="4572000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调用成熟 API，不用训模型，团队精力放在产品体验上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8" name="矩形"/>
          <p:cNvSpPr>
            <a:spLocks/>
          </p:cNvSpPr>
          <p:nvPr/>
        </p:nvSpPr>
        <p:spPr>
          <a:xfrm rot="0">
            <a:off x="6223000" y="5524499"/>
            <a:ext cx="4572000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成本可控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59" name="矩形"/>
          <p:cNvSpPr>
            <a:spLocks/>
          </p:cNvSpPr>
          <p:nvPr/>
        </p:nvSpPr>
        <p:spPr>
          <a:xfrm rot="0">
            <a:off x="6223000" y="5880100"/>
            <a:ext cx="4572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API 按量付费，学生项目预算内即可覆盖日常使用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113439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矩形"/>
          <p:cNvSpPr>
            <a:spLocks/>
          </p:cNvSpPr>
          <p:nvPr/>
        </p:nvSpPr>
        <p:spPr>
          <a:xfrm rot="0">
            <a:off x="1015999" y="634999"/>
            <a:ext cx="3810000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0" cap="none" spc="0" baseline="0">
                <a:solidFill>
                  <a:srgbClr val="003690">
                    <a:alpha val="7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05 · 应用价值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67" name="矩形"/>
          <p:cNvSpPr>
            <a:spLocks/>
          </p:cNvSpPr>
          <p:nvPr/>
        </p:nvSpPr>
        <p:spPr>
          <a:xfrm rot="0">
            <a:off x="1015999" y="1015999"/>
            <a:ext cx="10159999" cy="508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0" cap="none" spc="0" baseline="0">
                <a:solidFill>
                  <a:srgbClr val="0D132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三大使用场景与学习效率提升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68" name="直线连接线"/>
          <p:cNvCxnSpPr>
            <a:cxnSpLocks/>
          </p:cNvCxnSpPr>
          <p:nvPr/>
        </p:nvCxnSpPr>
        <p:spPr>
          <a:xfrm rot="0">
            <a:off x="1016004" y="1708150"/>
            <a:ext cx="10159999" cy="12700"/>
          </a:xfrm>
          <a:prstGeom prst="straightConnector1"/>
          <a:solidFill>
            <a:srgbClr val="DEE0E3"/>
          </a:solidFill>
          <a:ln w="12700" cmpd="sng" cap="flat">
            <a:solidFill>
              <a:srgbClr val="E6EBF5"/>
            </a:solidFill>
            <a:prstDash val="solid"/>
            <a:round/>
          </a:ln>
        </p:spPr>
      </p:cxnSp>
      <p:sp>
        <p:nvSpPr>
          <p:cNvPr id="269" name="圆角矩形"/>
          <p:cNvSpPr>
            <a:spLocks/>
          </p:cNvSpPr>
          <p:nvPr/>
        </p:nvSpPr>
        <p:spPr>
          <a:xfrm rot="0">
            <a:off x="1015999" y="2159000"/>
            <a:ext cx="3048000" cy="2539999"/>
          </a:xfrm>
          <a:prstGeom prst="roundRect">
            <a:avLst>
              <a:gd name="adj" fmla="val 0"/>
            </a:avLst>
          </a:prstGeom>
          <a:solidFill>
            <a:srgbClr val="F8FAFD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270" name="矩形"/>
          <p:cNvSpPr>
            <a:spLocks/>
          </p:cNvSpPr>
          <p:nvPr/>
        </p:nvSpPr>
        <p:spPr>
          <a:xfrm rot="0">
            <a:off x="1269999" y="2413000"/>
            <a:ext cx="2539999" cy="355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日常课后复习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71" name="直线连接线"/>
          <p:cNvCxnSpPr>
            <a:cxnSpLocks/>
          </p:cNvCxnSpPr>
          <p:nvPr/>
        </p:nvCxnSpPr>
        <p:spPr>
          <a:xfrm rot="-60000">
            <a:off x="1270079" y="2889250"/>
            <a:ext cx="507999" cy="12699"/>
          </a:xfrm>
          <a:prstGeom prst="straightConnector1"/>
          <a:solidFill>
            <a:srgbClr val="DEE0E3"/>
          </a:solidFill>
          <a:ln w="25400" cmpd="sng" cap="flat">
            <a:solidFill>
              <a:srgbClr val="003690"/>
            </a:solidFill>
            <a:prstDash val="solid"/>
            <a:round/>
          </a:ln>
        </p:spPr>
      </p:cxnSp>
      <p:sp>
        <p:nvSpPr>
          <p:cNvPr id="272" name="矩形"/>
          <p:cNvSpPr>
            <a:spLocks/>
          </p:cNvSpPr>
          <p:nvPr/>
        </p:nvSpPr>
        <p:spPr>
          <a:xfrm rot="0">
            <a:off x="1269999" y="3111500"/>
            <a:ext cx="2539999" cy="1396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看完回放后快速浏览总结，确认本节课核心知识点，标记未理解的部分针对性回看。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73" name="圆角矩形"/>
          <p:cNvSpPr>
            <a:spLocks/>
          </p:cNvSpPr>
          <p:nvPr/>
        </p:nvSpPr>
        <p:spPr>
          <a:xfrm rot="0">
            <a:off x="4572000" y="2159000"/>
            <a:ext cx="3048000" cy="2539999"/>
          </a:xfrm>
          <a:prstGeom prst="roundRect">
            <a:avLst>
              <a:gd name="adj" fmla="val 0"/>
            </a:avLst>
          </a:prstGeom>
          <a:solidFill>
            <a:srgbClr val="F8FAFD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274" name="矩形"/>
          <p:cNvSpPr>
            <a:spLocks/>
          </p:cNvSpPr>
          <p:nvPr/>
        </p:nvSpPr>
        <p:spPr>
          <a:xfrm rot="0">
            <a:off x="4826000" y="2413000"/>
            <a:ext cx="2539999" cy="355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考前集中冲刺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75" name="直线连接线"/>
          <p:cNvCxnSpPr>
            <a:cxnSpLocks/>
          </p:cNvCxnSpPr>
          <p:nvPr/>
        </p:nvCxnSpPr>
        <p:spPr>
          <a:xfrm rot="-60000">
            <a:off x="4826079" y="2889250"/>
            <a:ext cx="508000" cy="12699"/>
          </a:xfrm>
          <a:prstGeom prst="straightConnector1"/>
          <a:solidFill>
            <a:srgbClr val="DEE0E3"/>
          </a:solidFill>
          <a:ln w="25400" cmpd="sng" cap="flat">
            <a:solidFill>
              <a:srgbClr val="003690"/>
            </a:solidFill>
            <a:prstDash val="solid"/>
            <a:round/>
          </a:ln>
        </p:spPr>
      </p:cxnSp>
      <p:sp>
        <p:nvSpPr>
          <p:cNvPr id="276" name="矩形"/>
          <p:cNvSpPr>
            <a:spLocks/>
          </p:cNvSpPr>
          <p:nvPr/>
        </p:nvSpPr>
        <p:spPr>
          <a:xfrm rot="0">
            <a:off x="4826000" y="3111500"/>
            <a:ext cx="2539999" cy="1396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通过思维导图快速梳理整门课知识框架，重点时间点直达考点，大幅缩短复习时间。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77" name="圆角矩形"/>
          <p:cNvSpPr>
            <a:spLocks/>
          </p:cNvSpPr>
          <p:nvPr/>
        </p:nvSpPr>
        <p:spPr>
          <a:xfrm rot="0">
            <a:off x="8127999" y="2159000"/>
            <a:ext cx="3048000" cy="2539999"/>
          </a:xfrm>
          <a:prstGeom prst="roundRect">
            <a:avLst>
              <a:gd name="adj" fmla="val 0"/>
            </a:avLst>
          </a:prstGeom>
          <a:solidFill>
            <a:srgbClr val="F8FAFD"/>
          </a:solidFill>
          <a:ln w="12700" cmpd="sng" cap="flat">
            <a:solidFill>
              <a:srgbClr val="D4E5F7"/>
            </a:solidFill>
            <a:prstDash val="solid"/>
            <a:round/>
          </a:ln>
        </p:spPr>
      </p:sp>
      <p:sp>
        <p:nvSpPr>
          <p:cNvPr id="278" name="矩形"/>
          <p:cNvSpPr>
            <a:spLocks/>
          </p:cNvSpPr>
          <p:nvPr/>
        </p:nvSpPr>
        <p:spPr>
          <a:xfrm rot="0">
            <a:off x="8382000" y="2413000"/>
            <a:ext cx="2539999" cy="355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003690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缺课快速补课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79" name="直线连接线"/>
          <p:cNvCxnSpPr>
            <a:cxnSpLocks/>
          </p:cNvCxnSpPr>
          <p:nvPr/>
        </p:nvCxnSpPr>
        <p:spPr>
          <a:xfrm rot="-60000">
            <a:off x="8382079" y="2889250"/>
            <a:ext cx="508000" cy="12699"/>
          </a:xfrm>
          <a:prstGeom prst="straightConnector1"/>
          <a:solidFill>
            <a:srgbClr val="DEE0E3"/>
          </a:solidFill>
          <a:ln w="25400" cmpd="sng" cap="flat">
            <a:solidFill>
              <a:srgbClr val="003690"/>
            </a:solidFill>
            <a:prstDash val="solid"/>
            <a:round/>
          </a:ln>
        </p:spPr>
      </p:cxnSp>
      <p:sp>
        <p:nvSpPr>
          <p:cNvPr id="280" name="矩形"/>
          <p:cNvSpPr>
            <a:spLocks/>
          </p:cNvSpPr>
          <p:nvPr/>
        </p:nvSpPr>
        <p:spPr>
          <a:xfrm rot="0">
            <a:off x="8382000" y="3111500"/>
            <a:ext cx="2539999" cy="1396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u="none" strike="noStrike" kern="0" cap="none" spc="0" baseline="0">
                <a:solidFill>
                  <a:srgbClr val="536174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因故缺课时，先看总结和思维导图掌握全貌，再针对重点部分细看视频，跟上进度。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1" name="圆角矩形"/>
          <p:cNvSpPr>
            <a:spLocks/>
          </p:cNvSpPr>
          <p:nvPr/>
        </p:nvSpPr>
        <p:spPr>
          <a:xfrm rot="0">
            <a:off x="1015999" y="5079999"/>
            <a:ext cx="10159999" cy="1015999"/>
          </a:xfrm>
          <a:prstGeom prst="roundRect">
            <a:avLst>
              <a:gd name="adj" fmla="val 0"/>
            </a:avLst>
          </a:prstGeom>
          <a:solidFill>
            <a:srgbClr val="003690"/>
          </a:solidFill>
          <a:ln w="25400" cmpd="sng" cap="flat">
            <a:noFill/>
            <a:prstDash val="solid"/>
            <a:round/>
          </a:ln>
        </p:spPr>
      </p:sp>
      <p:sp>
        <p:nvSpPr>
          <p:cNvPr id="282" name="矩形"/>
          <p:cNvSpPr>
            <a:spLocks/>
          </p:cNvSpPr>
          <p:nvPr/>
        </p:nvSpPr>
        <p:spPr>
          <a:xfrm rot="0">
            <a:off x="1397000" y="5270500"/>
            <a:ext cx="2539999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FFFFFF">
                    <a:alpha val="80000"/>
                  </a:srgbClr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传统方式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3" name="矩形"/>
          <p:cNvSpPr>
            <a:spLocks/>
          </p:cNvSpPr>
          <p:nvPr/>
        </p:nvSpPr>
        <p:spPr>
          <a:xfrm rot="0">
            <a:off x="1397000" y="5588000"/>
            <a:ext cx="2539999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FFFF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2 小时完整回放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4" name="矩形"/>
          <p:cNvSpPr>
            <a:spLocks/>
          </p:cNvSpPr>
          <p:nvPr/>
        </p:nvSpPr>
        <p:spPr>
          <a:xfrm rot="0">
            <a:off x="4826000" y="5397500"/>
            <a:ext cx="762000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FFFF">
                    <a:alpha val="60000"/>
                  </a:srgbClr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→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5" name="矩形"/>
          <p:cNvSpPr>
            <a:spLocks/>
          </p:cNvSpPr>
          <p:nvPr/>
        </p:nvSpPr>
        <p:spPr>
          <a:xfrm rot="0">
            <a:off x="6096000" y="5270500"/>
            <a:ext cx="2539999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FFFFFF">
                    <a:alpha val="80000"/>
                  </a:srgbClr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AI 辅助学习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6" name="矩形"/>
          <p:cNvSpPr>
            <a:spLocks/>
          </p:cNvSpPr>
          <p:nvPr/>
        </p:nvSpPr>
        <p:spPr>
          <a:xfrm rot="0">
            <a:off x="6096000" y="5588000"/>
            <a:ext cx="3555999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FFFF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15 分钟抓住全部重点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87" name="矩形"/>
          <p:cNvSpPr>
            <a:spLocks/>
          </p:cNvSpPr>
          <p:nvPr/>
        </p:nvSpPr>
        <p:spPr>
          <a:xfrm rot="0">
            <a:off x="9398000" y="5397500"/>
            <a:ext cx="1524000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kern="0" cap="none" spc="0" baseline="0">
                <a:solidFill>
                  <a:srgbClr val="FFDC64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效率提升 8x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38979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gradFill>
          <a:gsLst>
            <a:gs pos="0">
              <a:srgbClr val="003690"/>
            </a:gs>
            <a:gs pos="100000">
              <a:srgbClr val="0050B4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"/>
          <p:cNvSpPr>
            <a:spLocks/>
          </p:cNvSpPr>
          <p:nvPr/>
        </p:nvSpPr>
        <p:spPr>
          <a:xfrm rot="0">
            <a:off x="1015999" y="2539999"/>
            <a:ext cx="10159999" cy="762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0" cap="none" spc="0" baseline="0">
                <a:solidFill>
                  <a:srgbClr val="FFFFFF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让每一堂课都能被高效吸收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cxnSp>
        <p:nvCxnSpPr>
          <p:cNvPr id="295" name="直线连接线"/>
          <p:cNvCxnSpPr>
            <a:cxnSpLocks/>
          </p:cNvCxnSpPr>
          <p:nvPr/>
        </p:nvCxnSpPr>
        <p:spPr>
          <a:xfrm rot="0">
            <a:off x="4826016" y="3676650"/>
            <a:ext cx="2540000" cy="12699"/>
          </a:xfrm>
          <a:prstGeom prst="straightConnector1"/>
          <a:solidFill>
            <a:srgbClr val="DEE0E3"/>
          </a:solidFill>
          <a:ln w="12700" cmpd="sng" cap="flat">
            <a:solidFill>
              <a:srgbClr val="FFFFFF">
                <a:alpha val="40000"/>
              </a:srgbClr>
            </a:solidFill>
            <a:prstDash val="solid"/>
            <a:round/>
          </a:ln>
        </p:spPr>
      </p:cxnSp>
      <p:sp>
        <p:nvSpPr>
          <p:cNvPr id="296" name="矩形"/>
          <p:cNvSpPr>
            <a:spLocks/>
          </p:cNvSpPr>
          <p:nvPr/>
        </p:nvSpPr>
        <p:spPr>
          <a:xfrm rot="0">
            <a:off x="1015999" y="4063999"/>
            <a:ext cx="10159999" cy="381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kern="0" cap="none" spc="0" baseline="0">
                <a:solidFill>
                  <a:srgbClr val="D4E5F7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课程回放 AI 总结系统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97" name="矩形"/>
          <p:cNvSpPr>
            <a:spLocks/>
          </p:cNvSpPr>
          <p:nvPr/>
        </p:nvSpPr>
        <p:spPr>
          <a:xfrm rot="0">
            <a:off x="1015999" y="4699000"/>
            <a:ext cx="10159999" cy="30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u="none" strike="noStrike" kern="0" cap="none" spc="0" baseline="0">
                <a:solidFill>
                  <a:srgbClr val="B4C8E6"/>
                </a:solidFill>
                <a:latin typeface="Noto Sans SC" pitchFamily="0" charset="0"/>
                <a:ea typeface="Noto Sans SC" pitchFamily="0" charset="0"/>
                <a:cs typeface="Noto Sans SC" pitchFamily="0" charset="0"/>
                <a:sym typeface="Noto Sans SC" pitchFamily="0" charset="0"/>
              </a:rPr>
              <a:t>北京交通大学 · 智能学习工具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  <p:sp>
        <p:nvSpPr>
          <p:cNvPr id="298" name="矩形"/>
          <p:cNvSpPr>
            <a:spLocks/>
          </p:cNvSpPr>
          <p:nvPr/>
        </p:nvSpPr>
        <p:spPr>
          <a:xfrm rot="0">
            <a:off x="1015999" y="5969000"/>
            <a:ext cx="10159999" cy="2539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A0B4D2"/>
                </a:solidFill>
                <a:latin typeface="Inter" pitchFamily="0" charset="0"/>
                <a:ea typeface="Inter" pitchFamily="0" charset="0"/>
                <a:cs typeface="Inter" pitchFamily="0" charset="0"/>
                <a:sym typeface="Inter" pitchFamily="0" charset="0"/>
              </a:rPr>
              <a:t>THANK YOU</a:t>
            </a:r>
            <a:endParaRPr lang="zh-CN" altLang="en-US" sz="11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067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默认主题">
  <a:themeElements>
    <a:clrScheme name="默认主题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默认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默认主题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手机用户</cp:lastModifiedBy>
  <cp:revision>0</cp:revision>
  <dcterms:modified xsi:type="dcterms:W3CDTF">2026-09-18T06:09:58Z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IGC">
    <vt:lpwstr>{"Label":"1","ContentProducer":"001191110102MACQD9K64010000","ProduceID":"7686753225361771492","ReservedCode1":"","ContentPropagator":"","PropagateID":"","ReservedCode2":""}</vt:lpwstr>
  </property>
</Properties>
</file>